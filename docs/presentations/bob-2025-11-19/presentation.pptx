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80132"/>
            <a:ext cx="7772400" cy="201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Comparison for Gene Expression Summarization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845891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evaluation of Claude Sonnet 4.5 Thinking vs GPT-5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804642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MacCallum, VEuPathDB Team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198293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19,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Problem &amp;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91977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714202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expression data tables with 40-50 experiments per gene requiring ~1 hour to fully peruse and interpret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901" y="2438102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AI-Powered Summaries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4901" y="2860328"/>
            <a:ext cx="7874198" cy="10287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3476" y="2860328"/>
            <a:ext cx="0" cy="1028700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551" y="3127028"/>
            <a:ext cx="758476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read</a:t>
            </a:r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gene-specific headline, one-paragraph summary with quantitative details, and organized topics grouping high-confidence experiments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901" y="4117628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Screenshots of actual expression summaries from the website to be added during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Two-Step Prompting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53877"/>
            <a:ext cx="38215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Individual Experiments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676102"/>
            <a:ext cx="38215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experiment summarized independently: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983432"/>
            <a:ext cx="3746599" cy="11927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summary of gene behavior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importance score (0-5)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(0-5)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keywords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notes for caveats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303091"/>
            <a:ext cx="3746599" cy="81766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58713" y="3303091"/>
            <a:ext cx="0" cy="81766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027" y="3480792"/>
            <a:ext cx="3565892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structured JSON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2500" y="1253877"/>
            <a:ext cx="38215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Consolidation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62500" y="1676102"/>
            <a:ext cx="38215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High-confidence summaries combined: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2500" y="1983432"/>
            <a:ext cx="3746599" cy="13399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biological_importance &gt; 3 AND confidence &gt; 3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filtered experiments into topics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gene-specific headline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~100 word summary with HTML formatting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62500" y="3450282"/>
            <a:ext cx="3746599" cy="58653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86313" y="3450282"/>
            <a:ext cx="0" cy="58653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1626" y="3627983"/>
            <a:ext cx="35658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iteratively</a:t>
            </a:r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GPT-4o via API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to Claude Sonnet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330077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844427"/>
            <a:ext cx="803168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Ported the two-step prompting approach from GPT-4o to Claude Sonnet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2357438"/>
            <a:ext cx="7874198" cy="140687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2357438"/>
            <a:ext cx="0" cy="1406872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701" y="2712988"/>
            <a:ext cx="74876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observation:</a:t>
            </a:r>
            <a:pPr algn="l" indent="0" marL="0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 looked much better than GPT-4o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701" y="3124349"/>
            <a:ext cx="74876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narrative, warmer tone, better biological interpretation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4901" y="4018211"/>
            <a:ext cx="8031682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b="1" i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how do we measure this objectively?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"No Gold Standard"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28427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650653"/>
            <a:ext cx="80316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expert-validated gene expression summaries exist as ground truth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983284"/>
            <a:ext cx="7874198" cy="768102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use traditional metrics (BLEU, ROUGE, accuracy)</a:t>
            </a:r>
            <a:endParaRPr lang="en-US" sz="1400" dirty="0"/>
          </a:p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definitively claim which model is "better"</a:t>
            </a:r>
            <a:endParaRPr lang="en-US" sz="1400" dirty="0"/>
          </a:p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models may emphasize different valid aspects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903786"/>
            <a:ext cx="7874198" cy="755452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3157686"/>
            <a:ext cx="76691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Comprehensive comparative analysis without value judgments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901" y="3811637"/>
            <a:ext cx="7874198" cy="768102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pairwise comparisons to detect position bias</a:t>
            </a:r>
            <a:endParaRPr lang="en-US" sz="1400" dirty="0"/>
          </a:p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meta-analysis for systematic patterns</a:t>
            </a:r>
            <a:endParaRPr lang="en-US" sz="1400" dirty="0"/>
          </a:p>
          <a:p>
            <a:pPr algn="l" marL="139700" indent="-139700">
              <a:lnSpc>
                <a:spcPts val="175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 characterizing differences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Selection: 20 "Favourite Genes"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28427"/>
            <a:ext cx="3759398" cy="825103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228427"/>
            <a:ext cx="0" cy="82510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418779"/>
            <a:ext cx="3527030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pPr algn="l" indent="0" marL="0">
              <a:lnSpc>
                <a:spcPts val="17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George Christophides mosquito immunity lab, Imperial College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053530"/>
            <a:ext cx="38345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Categories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4901" y="2431256"/>
            <a:ext cx="383458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Immunity &amp; Defense: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2716857"/>
            <a:ext cx="3759398" cy="876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PGRP-LB (immune recognition)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Cecropin (antimicrobial)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Defensin (antimicrobial)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TOLL5A, REL2 (innate immunity)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656558"/>
            <a:ext cx="383458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01" y="3942159"/>
            <a:ext cx="3759398" cy="6477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Vitellogenin, Lipophorin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Saglin (salivary protein)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Chitinase, Peritrophin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9850" y="1228427"/>
            <a:ext cx="38345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Genes?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49850" y="1606153"/>
            <a:ext cx="3759398" cy="1257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focus on mosquito immunity and vector biology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expression patterns across tissues and conditions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Well-studied genes with complex profiles</a:t>
            </a:r>
            <a:endParaRPr lang="en-US" sz="1200" dirty="0"/>
          </a:p>
          <a:p>
            <a:pPr algn="l" marL="127000" indent="-1270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test cases for robust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9850" y="2926854"/>
            <a:ext cx="38345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49850" y="3304580"/>
            <a:ext cx="3834586" cy="6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VectorBase genes (Anopheles gambiae) with full expression profiles across multiple experiments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Pipeline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52227"/>
            <a:ext cx="8128099" cy="57060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152227"/>
            <a:ext cx="0" cy="570607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426" y="1353741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6927" y="1241078"/>
            <a:ext cx="7568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Summaries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6927" y="1466404"/>
            <a:ext cx="7568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JSON files (20 genes × 3 models) from dev sites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748135"/>
            <a:ext cx="8128099" cy="57060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1748135"/>
            <a:ext cx="0" cy="570607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426" y="1949648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6927" y="1836986"/>
            <a:ext cx="7568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Pairwise Comparison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6927" y="2062311"/>
            <a:ext cx="7568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comparisons (6 per gene) - AI-powered analysis with model anonymity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2344043"/>
            <a:ext cx="8128099" cy="57060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2344043"/>
            <a:ext cx="0" cy="570607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426" y="2545556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6927" y="2432893"/>
            <a:ext cx="7568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6927" y="2658219"/>
            <a:ext cx="7568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merged files - 95% data reduction, position bias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2939951"/>
            <a:ext cx="8128099" cy="57060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31763" y="2939951"/>
            <a:ext cx="0" cy="570607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426" y="3141464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6927" y="3028801"/>
            <a:ext cx="7568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6927" y="3254127"/>
            <a:ext cx="7568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reports - Statistical patterns, qualitative themes, modal representatives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3535859"/>
            <a:ext cx="8128099" cy="57060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1763" y="3535859"/>
            <a:ext cx="0" cy="570607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426" y="3737372"/>
            <a:ext cx="3626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6927" y="3624709"/>
            <a:ext cx="7568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6927" y="3850035"/>
            <a:ext cx="7568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gene summaries + 3 comparison reports + index page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4207966"/>
            <a:ext cx="8128099" cy="370582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451" y="4309467"/>
            <a:ext cx="808360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yarn comparison:fetch → compare → condense → aggregate → 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89906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Fetch Summaries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688925"/>
            <a:ext cx="82906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42306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1900982"/>
            <a:ext cx="8128099" cy="94401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to 3 VEuPathDB dev sites, each running a different model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Cookie-based authentication for access control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 per gene for efficiency</a:t>
            </a:r>
            <a:endParaRPr lang="en-US" sz="13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cached summaries from backend (typically instant)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921198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50" y="3279874"/>
            <a:ext cx="829066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TypeScript script with retry logic and progress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604766"/>
            <a:ext cx="8128099" cy="8399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604766"/>
            <a:ext cx="0" cy="83998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26" y="3795117"/>
            <a:ext cx="798310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56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JSON files (20 genes × 3 models)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2526" y="4056459"/>
            <a:ext cx="798310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comparison/data/summaries/{model}/{geneId}.json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800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Input for Comparison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14350"/>
            <a:ext cx="829066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059507"/>
            <a:ext cx="4048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Sent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32458"/>
            <a:ext cx="4048176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summary (NOT the full 45 per-experiment summaries):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704380"/>
            <a:ext cx="3968800" cy="6929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65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headline</a:t>
            </a:r>
            <a:endParaRPr lang="en-US" sz="1100" dirty="0"/>
          </a:p>
          <a:p>
            <a:pPr algn="l" marL="114300" indent="-114300">
              <a:lnSpc>
                <a:spcPts val="1265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One-paragraph summary</a:t>
            </a:r>
            <a:endParaRPr lang="en-US" sz="1100" dirty="0"/>
          </a:p>
          <a:p>
            <a:pPr algn="l" marL="114300" indent="-114300">
              <a:lnSpc>
                <a:spcPts val="1265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topic: headline, one-sentence summary, experiment names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460724"/>
            <a:ext cx="3968800" cy="524173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2562225"/>
            <a:ext cx="3918838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token reduction while preserving all human-readable content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048298"/>
            <a:ext cx="404817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anonymized</a:t>
            </a:r>
            <a:pPr algn="l" indent="0" marL="0">
              <a:lnSpc>
                <a:spcPts val="12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Summary A/B to prevent bias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7250" y="1059507"/>
            <a:ext cx="40481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Prompt (Excerpt)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7250" y="1332458"/>
            <a:ext cx="3968800" cy="241711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6300" y="1332458"/>
            <a:ext cx="0" cy="2417118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1550" y="1421309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two gene expression summaries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1550" y="1594545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same gene.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1550" y="1767780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A: { ...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81550" y="1941016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B: { ... 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1550" y="2114252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 comparison in JSON format: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1550" y="2287488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biological_content: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1550" y="2460724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observations: only_in_A, only_in_B, in_both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81550" y="2633960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insights: only_in_A, only_in_B, in_both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1550" y="2807196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qualitative_assessment: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1550" y="2980432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tone_and_style, technical_detail_level,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1550" y="3153668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structure_and_organization, headline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1550" y="3326904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quantitative_expression_mentions: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1550" y="3500140"/>
            <a:ext cx="385386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fold changes, TPM, percentiles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641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AI-Powered Pairwise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441275"/>
            <a:ext cx="829066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248817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575792"/>
            <a:ext cx="3983507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gene, 6 comparisons: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827312"/>
            <a:ext cx="3905399" cy="46493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vs B (forward)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vs A (reverse)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330351"/>
            <a:ext cx="3983507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for all 3 model pairs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2581870"/>
            <a:ext cx="3905399" cy="655439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581870"/>
            <a:ext cx="0" cy="655439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775" y="2696170"/>
            <a:ext cx="377948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bidirectional?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Detects position bias (does order affect judgment?)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950" y="3275409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Anonymity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3602385"/>
            <a:ext cx="3983507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refer to "Summary A" and "Summary B" throughout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0800" y="1248817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Dimensions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0800" y="1575792"/>
            <a:ext cx="3905399" cy="96797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content (observations, insights)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and style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 level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organization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0800" y="2581870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Metrics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0800" y="2908846"/>
            <a:ext cx="3905399" cy="92987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Word/sentence/topic counts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mentions (fold changes, TPM, percentiles)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0800" y="3876824"/>
            <a:ext cx="3905399" cy="44202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54612" y="3876824"/>
            <a:ext cx="0" cy="442020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4625" y="3991124"/>
            <a:ext cx="377948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120 JSON files (6 × 20 genes)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475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2.5: Condensation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441275"/>
            <a:ext cx="8290661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25715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Bidirectional Pairs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609576"/>
            <a:ext cx="8290661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model pair, merge A-vs-B and B-vs-A comparisons: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853952"/>
            <a:ext cx="8128099" cy="93940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averages for biological content metrics</a:t>
            </a:r>
            <a:endParaRPr lang="en-US" sz="1300" dirty="0"/>
          </a:p>
          <a:p>
            <a:pPr algn="l" marL="158750" indent="-15875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merges qualitative assessments from both directions</a:t>
            </a:r>
            <a:endParaRPr lang="en-US" sz="1300" dirty="0"/>
          </a:p>
          <a:p>
            <a:pPr algn="l" marL="158750" indent="-15875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contradictions indicating position bias</a:t>
            </a:r>
            <a:endParaRPr lang="en-US" sz="1300" dirty="0"/>
          </a:p>
          <a:p>
            <a:pPr algn="l" marL="158750" indent="-15875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deterministic metrics from both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831455"/>
            <a:ext cx="8128099" cy="358676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393" y="2907655"/>
            <a:ext cx="8135213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data reduction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3228231"/>
            <a:ext cx="8290661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observation/insight lists replaced with summary counts, maintaining statistical validity while dramatically reducing file size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678882"/>
            <a:ext cx="8290661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6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condensed files (3 model pairs × 20 genes)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6417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3-4: Aggregation &amp; HTML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441275"/>
            <a:ext cx="829066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248817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Aggregation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575792"/>
            <a:ext cx="3983507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model pair across all 20 genes: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827312"/>
            <a:ext cx="3905399" cy="96797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means ± standard errors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t-tests for statistical significance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synthesizes qualitative patterns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modal representative genes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833390"/>
            <a:ext cx="3905399" cy="868859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833390"/>
            <a:ext cx="0" cy="868859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775" y="2947690"/>
            <a:ext cx="3779481" cy="64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extensively used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plan and develop this analysis pipeline and HTML rendering scripts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0800" y="1248817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HTML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0800" y="1575792"/>
            <a:ext cx="3983507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reports with: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0800" y="1827312"/>
            <a:ext cx="3905399" cy="121949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gene summaries (20 × 3 models)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aggregate comparison reports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page with comparison matrix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hover popups for gene links</a:t>
            </a:r>
            <a:endParaRPr lang="en-US" sz="1400" dirty="0"/>
          </a:p>
          <a:p>
            <a:pPr algn="l" marL="139700" indent="-1397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HTML formatting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0800" y="3084909"/>
            <a:ext cx="3983507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identities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revealed only in final reports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30800" y="3336429"/>
            <a:ext cx="3983507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aggregate reports + navigable HTML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525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Dimensions Analyzed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9225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19225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775" y="1495425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1775" y="1771650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vs shared observations and insights extracted from summaries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281833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281833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775" y="2358033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Style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775" y="2634258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 vs neutral, promotional vs balanced, narrative vs descriptive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3144441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144441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775" y="3220641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775" y="3496866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specificity vs contextual breadth, metrics vs mechanisms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0800" y="1419225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4612" y="1419225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4625" y="1495425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4625" y="1771650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prose vs bullet lists, data-heavy vs streamlined organization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0800" y="2281833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54612" y="2281833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4625" y="2358033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Metrics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54625" y="2634258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count, sentence count, topic count, formatting patterns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0800" y="3144441"/>
            <a:ext cx="3905399" cy="824508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54612" y="3144441"/>
            <a:ext cx="0" cy="824508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4625" y="3220641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Mentions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4625" y="3496866"/>
            <a:ext cx="3779481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of fold changes, TPM values, percentiles in summaries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525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Quantitative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81125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Count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71650"/>
            <a:ext cx="3905399" cy="8190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771650"/>
            <a:ext cx="0" cy="819001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775" y="1847850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4.5 Thinking: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403 words (avg)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1775" y="2070050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327 words (avg)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1775" y="2292251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0.0007 (highly significant)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628751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Mentions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019276"/>
            <a:ext cx="3905399" cy="8190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3019276"/>
            <a:ext cx="0" cy="819001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775" y="3095476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4.5 Thinking: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10.28 mentions/gene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775" y="3317677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1.65 mentions/gene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775" y="3539877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0.0001 (extremely significant)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0800" y="1381125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800" y="1771650"/>
            <a:ext cx="3905399" cy="5968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54612" y="1771650"/>
            <a:ext cx="0" cy="596801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4625" y="1847850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75% use bullets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54625" y="2070050"/>
            <a:ext cx="377948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GPT-5: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use bullets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30800" y="2406551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Patterns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30800" y="2797076"/>
            <a:ext cx="3905399" cy="8190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54612" y="2797076"/>
            <a:ext cx="0" cy="819001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4625" y="2873276"/>
            <a:ext cx="3779481" cy="6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produce comparable observation and insight counts with different emphasis patterns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30800" y="3654177"/>
            <a:ext cx="3905399" cy="5524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9470" y="3730377"/>
            <a:ext cx="38280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Bias: 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69470" y="3930402"/>
            <a:ext cx="38280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order-independent judgments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525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Results (Screenshots)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3255" y="2235250"/>
            <a:ext cx="8057489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for screenshots to be added during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263202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to capture: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8950" y="3149501"/>
            <a:ext cx="7747099" cy="74622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56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page: Comparison matrix (aggregate-reports/gpt5/index.html)</a:t>
            </a:r>
            <a:endParaRPr lang="en-US" sz="1300" dirty="0"/>
          </a:p>
          <a:p>
            <a:pPr algn="l" marL="190500" indent="-190500">
              <a:lnSpc>
                <a:spcPts val="156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gene summaries: AGAP001212 for both models</a:t>
            </a:r>
            <a:endParaRPr lang="en-US" sz="1300" dirty="0"/>
          </a:p>
          <a:p>
            <a:pPr algn="l" marL="190500" indent="-190500">
              <a:lnSpc>
                <a:spcPts val="156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report excerpt showing key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355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Pattern: Claude 4.5 Thinking vs GPT-5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390501"/>
            <a:ext cx="4095750" cy="326827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4711" y="1453902"/>
            <a:ext cx="4048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 Thinking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1793528"/>
            <a:ext cx="4095750" cy="75485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793528"/>
            <a:ext cx="0" cy="754856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501" y="1856929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(AGAP001212):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501" y="2047429"/>
            <a:ext cx="400946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"Highly expressed in digestive and secretory tissues with circadian rhythmicity, strong downregulation by Wolbachia infection, and dynamic blood feeding responses"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586484"/>
            <a:ext cx="4095750" cy="119241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586484"/>
            <a:ext cx="0" cy="1192411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501" y="2649885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excerpt: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501" y="2840385"/>
            <a:ext cx="4009465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gene exhibits pronounced tissue-specific expression in Anopheles gambiae, with highest levels in midgut (99th percentile) and salivary glands (99th percentile), suggesting roles in digestion or secretion.</a:t>
            </a:r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Expression shows robust circadian oscillations and is strongly upregulated in adults compared to immature stages...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3816995"/>
            <a:ext cx="4095750" cy="60900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816995"/>
            <a:ext cx="0" cy="609005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501" y="3880396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501" y="4070896"/>
            <a:ext cx="4009465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narrative, bold formatting, hypothesis-forward, 10× more quantitative mentions, longer sentences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7250" y="1390501"/>
            <a:ext cx="4095750" cy="326827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90961" y="1453902"/>
            <a:ext cx="4048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7250" y="1793528"/>
            <a:ext cx="4095750" cy="60900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6300" y="1793528"/>
            <a:ext cx="0" cy="609005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8751" y="1856929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(AGAP001212):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8751" y="2047429"/>
            <a:ext cx="4009465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"Gut- and salivary-enriched, circadian and feeding-responsive expression in Anopheles gambiae"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7250" y="2440632"/>
            <a:ext cx="4095750" cy="1046559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6300" y="2440632"/>
            <a:ext cx="0" cy="1046559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8751" y="2504033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excerpt: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8751" y="2694533"/>
            <a:ext cx="4009465" cy="72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profile in Anopheles gambiae:</a:t>
            </a:r>
            <a:endParaRPr lang="en-US" sz="10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Very high in adult midgut and salivary glands; enriched in anterior midgut</a:t>
            </a:r>
            <a:endParaRPr lang="en-US" sz="10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in hemolymph, carcass and head/thorax</a:t>
            </a:r>
            <a:endParaRPr lang="en-US" sz="10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robust circadian cycling with higher night-time expression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7250" y="3525292"/>
            <a:ext cx="4095750" cy="60900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6300" y="3525292"/>
            <a:ext cx="0" cy="609005"/>
          </a:xfrm>
          <a:prstGeom prst="line">
            <a:avLst/>
          </a:prstGeom>
          <a:noFill/>
          <a:ln w="3810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8751" y="3588693"/>
            <a:ext cx="400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8751" y="3779193"/>
            <a:ext cx="4009465" cy="29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bullet lists, neutral tone, concise and scannable, mechanism-oriented, more restrained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525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9225"/>
            <a:ext cx="8128099" cy="352425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495425"/>
            <a:ext cx="8135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Claude Sonnet 4.5 + Thinking Mode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0975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085975"/>
            <a:ext cx="8128099" cy="35242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6525" y="2085975"/>
            <a:ext cx="0" cy="352425"/>
          </a:xfrm>
          <a:prstGeom prst="line">
            <a:avLst/>
          </a:prstGeom>
          <a:noFill/>
          <a:ln w="57150">
            <a:solidFill>
              <a:srgbClr val="87A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300" y="2162175"/>
            <a:ext cx="8076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Impact: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~$0.80 per Anopheles gambiae gene (~45 experiments) - approximately double previous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476500"/>
            <a:ext cx="8128099" cy="69502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</a:t>
            </a:r>
            <a:pPr algn="l" indent="0" marL="0">
              <a:lnSpc>
                <a:spcPts val="1625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cached GPT-4o entries will be invalidated</a:t>
            </a:r>
            <a:endParaRPr lang="en-US" sz="1300" dirty="0"/>
          </a:p>
          <a:p>
            <a:pPr algn="l" marL="190500" indent="-19050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lnSpc>
                <a:spcPts val="1625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Publicize the new feature to VEuPathDB users</a:t>
            </a:r>
            <a:endParaRPr lang="en-US" sz="1300" dirty="0"/>
          </a:p>
          <a:p>
            <a:pPr algn="l" marL="190500" indent="-190500">
              <a:lnSpc>
                <a:spcPts val="1625"/>
              </a:lnSpc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</a:t>
            </a:r>
            <a:pPr algn="l" indent="0" marL="0">
              <a:lnSpc>
                <a:spcPts val="1625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user feedback, consider offering model choice as preference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59656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promptfoo.dev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574625"/>
            <a:ext cx="8290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Evaluation Framework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313557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We Have Used an Existing Tool?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53183"/>
            <a:ext cx="80316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pPr algn="l" indent="0" marL="0">
              <a:lnSpc>
                <a:spcPts val="18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open-source LLM evaluation framework that offers: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1985814"/>
            <a:ext cx="7874198" cy="8457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testing with custom evaluation criteria</a:t>
            </a:r>
            <a:endParaRPr lang="en-US" sz="1400" dirty="0"/>
          </a:p>
          <a:p>
            <a:pPr algn="l" marL="152400" indent="-1524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for pairwise comparisons</a:t>
            </a:r>
            <a:endParaRPr lang="en-US" sz="1400" dirty="0"/>
          </a:p>
          <a:p>
            <a:pPr algn="l" marL="152400" indent="-1524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web viewer and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984004"/>
            <a:ext cx="7874198" cy="131489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2984004"/>
            <a:ext cx="0" cy="131489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926" y="3187154"/>
            <a:ext cx="7672209" cy="64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check:</a:t>
            </a:r>
            <a:pPr algn="l" indent="0" marL="0">
              <a:lnSpc>
                <a:spcPts val="169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promptfoo came to attention late in the game. Even if discovered earlier, steep learning curve to harness appropriately for our specific needs (bidirectional testing, custom HTML reports, statistical aggregation).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4926" y="3881289"/>
            <a:ext cx="7672209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</a:t>
            </a:r>
            <a:pPr algn="l" indent="0" marL="0">
              <a:lnSpc>
                <a:spcPts val="169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on radar for VEuPathDB AI projects.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64865"/>
            <a:ext cx="93268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490341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Moment: Full Disclosure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3020467"/>
            <a:ext cx="7620000" cy="1591419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762" y="3191768"/>
            <a:ext cx="752647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to Bob's colleagues!</a:t>
            </a:r>
            <a:pPr algn="ctr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I'm Claude (Sonnet 4.5), and I helped plan the comparison pipeline, develop the HTML rendering scripts, analyze the results, and create this presentation.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8762" y="3608040"/>
            <a:ext cx="752647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been fascinating to compare my own outputs against GPT-5 - turns out I'm a bit verbose and love bold formatting!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8762" y="4024313"/>
            <a:ext cx="7526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you find the comparison framework useful for evaluating AI tools in your own work.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8762" y="4257824"/>
            <a:ext cx="7526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Model Comparison for Gene Expression Summarization</dc:title>
  <dc:subject>PptxGenJS Presentation</dc:subject>
  <dc:creator>Bob MacCallum, VEuPathDB Team</dc:creator>
  <cp:lastModifiedBy>Bob MacCallum, VEuPathDB Team</cp:lastModifiedBy>
  <cp:revision>1</cp:revision>
  <dcterms:created xsi:type="dcterms:W3CDTF">2025-11-19T12:56:26Z</dcterms:created>
  <dcterms:modified xsi:type="dcterms:W3CDTF">2025-11-19T12:56:26Z</dcterms:modified>
</cp:coreProperties>
</file>