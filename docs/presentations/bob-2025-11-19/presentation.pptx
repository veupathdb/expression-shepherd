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52400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80132"/>
            <a:ext cx="7772400" cy="20118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280"/>
              </a:lnSpc>
              <a:spcAft>
                <a:spcPts val="2000"/>
              </a:spcAft>
              <a:buNone/>
            </a:pPr>
            <a:r>
              <a:rPr lang="en-US" sz="4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Model Comparison for Gene Expression Summarization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845891"/>
            <a:ext cx="777240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0"/>
              </a:spcBef>
              <a:spcAft>
                <a:spcPts val="2000"/>
              </a:spcAft>
              <a:buNone/>
            </a:pPr>
            <a:r>
              <a:rPr lang="en-US" sz="24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Systematic evaluation of Claude Sonnet 4.5 Thinking vs GPT-5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" y="3804642"/>
            <a:ext cx="7772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Bob MacCallum, VEuPathDB Team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4198293"/>
            <a:ext cx="7772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600" dirty="0">
                <a:solidFill>
                  <a:srgbClr val="87A9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November 19, 2025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74527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User Problem &amp; Solution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291977"/>
            <a:ext cx="803168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The Challenge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1714202"/>
            <a:ext cx="8031682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expression data tables with 40-50 experiments per gene requiring ~1 hour to fully peruse and interpret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34901" y="2438102"/>
            <a:ext cx="803168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AI-Powered Summaries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34901" y="2860328"/>
            <a:ext cx="7874198" cy="1028700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63476" y="2860328"/>
            <a:ext cx="0" cy="1028700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2551" y="3127028"/>
            <a:ext cx="7584769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30-second read</a:t>
            </a:r>
            <a:pPr algn="l" indent="0" marL="0">
              <a:lnSpc>
                <a:spcPts val="195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gene-specific headline, one-paragraph summary with quantitative details, and organized topics grouping high-confidence experiments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4901" y="4117628"/>
            <a:ext cx="8031682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Screenshots of actual expression summaries from the website to be added during presentation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74527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Two-Step Prompting Approach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253877"/>
            <a:ext cx="382153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Individual Experiments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1676102"/>
            <a:ext cx="3821531" cy="23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experiment summarized independently: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34901" y="1983432"/>
            <a:ext cx="3746599" cy="1192709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One-sentence summary of gene behavior</a:t>
            </a:r>
            <a:endParaRPr lang="en-US" sz="1300" dirty="0"/>
          </a:p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Biological importance score (0-5)</a:t>
            </a:r>
            <a:endParaRPr lang="en-US" sz="1300" dirty="0"/>
          </a:p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score (0-5)</a:t>
            </a:r>
            <a:endParaRPr lang="en-US" sz="1300" dirty="0"/>
          </a:p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keywords</a:t>
            </a:r>
            <a:endParaRPr lang="en-US" sz="1300" dirty="0"/>
          </a:p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notes for caveats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4901" y="3303091"/>
            <a:ext cx="3746599" cy="817662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58713" y="3303091"/>
            <a:ext cx="0" cy="817662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4027" y="3480792"/>
            <a:ext cx="3565892" cy="462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processing</a:t>
            </a:r>
            <a:pPr algn="l" indent="0" marL="0">
              <a:lnSpc>
                <a:spcPts val="182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structured JSON output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2500" y="1253877"/>
            <a:ext cx="382153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Consolidation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762500" y="1676102"/>
            <a:ext cx="3821531" cy="23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High-confidence summaries combined: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62500" y="1983432"/>
            <a:ext cx="3746599" cy="1339900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Filter: biological_importance &gt; 3 AND confidence &gt; 3</a:t>
            </a:r>
            <a:endParaRPr lang="en-US" sz="1300" dirty="0"/>
          </a:p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filtered experiments into topics</a:t>
            </a:r>
            <a:endParaRPr lang="en-US" sz="1300" dirty="0"/>
          </a:p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gene-specific headline</a:t>
            </a:r>
            <a:endParaRPr lang="en-US" sz="1300" dirty="0"/>
          </a:p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~100 word summary with HTML formatting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62500" y="3450282"/>
            <a:ext cx="3746599" cy="586532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786313" y="3450282"/>
            <a:ext cx="0" cy="586532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11626" y="3627983"/>
            <a:ext cx="3565892" cy="23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Developed iteratively</a:t>
            </a:r>
            <a:pPr algn="l" indent="0" marL="0">
              <a:lnSpc>
                <a:spcPts val="182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GPT-4o via API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74527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to Claude Sonnet 4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330077"/>
            <a:ext cx="8031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500"/>
              </a:spcAft>
              <a:buNone/>
            </a:pPr>
            <a:r>
              <a:rPr lang="en-US" sz="22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Implementation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34901" y="1844427"/>
            <a:ext cx="8031682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Ported the two-step prompting approach from GPT-4o to Claude Sonnet 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34901" y="2357438"/>
            <a:ext cx="7874198" cy="1406872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73001" y="2357438"/>
            <a:ext cx="0" cy="1406872"/>
          </a:xfrm>
          <a:prstGeom prst="line">
            <a:avLst/>
          </a:prstGeom>
          <a:noFill/>
          <a:ln w="76200">
            <a:solidFill>
              <a:srgbClr val="E07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9701" y="2712988"/>
            <a:ext cx="748761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Qualitative observation:</a:t>
            </a:r>
            <a:pPr algn="l" indent="0" marL="0">
              <a:lnSpc>
                <a:spcPts val="224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Results looked much better than GPT-4o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39701" y="3124349"/>
            <a:ext cx="748761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narrative, warmer tone, better biological interpretation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34901" y="4018211"/>
            <a:ext cx="8031682" cy="337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0"/>
              </a:lnSpc>
              <a:spcBef>
                <a:spcPts val="2000"/>
              </a:spcBef>
              <a:spcAft>
                <a:spcPts val="2000"/>
              </a:spcAft>
              <a:buNone/>
            </a:pPr>
            <a:r>
              <a:rPr lang="en-US" sz="1900" b="1" i="1" dirty="0">
                <a:solidFill>
                  <a:srgbClr val="87A9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how do we measure this objectively?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74527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"No Gold Standard" Problem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228427"/>
            <a:ext cx="803168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1650653"/>
            <a:ext cx="8031682" cy="23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expert-validated gene expression summaries exist as ground truth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34901" y="1983284"/>
            <a:ext cx="7874198" cy="768102"/>
          </a:xfrm>
          <a:prstGeom prst="rect">
            <a:avLst/>
          </a:prstGeom>
          <a:noFill/>
          <a:ln/>
        </p:spPr>
        <p:txBody>
          <a:bodyPr wrap="square" lIns="139700" tIns="0" rIns="0" bIns="0" rtlCol="0" anchor="t"/>
          <a:lstStyle/>
          <a:p>
            <a:pPr algn="l" marL="139700" indent="-139700">
              <a:lnSpc>
                <a:spcPts val="175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use traditional metrics (BLEU, ROUGE, accuracy)</a:t>
            </a:r>
            <a:endParaRPr lang="en-US" sz="1400" dirty="0"/>
          </a:p>
          <a:p>
            <a:pPr algn="l" marL="139700" indent="-139700">
              <a:lnSpc>
                <a:spcPts val="175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definitively claim which model is "better"</a:t>
            </a:r>
            <a:endParaRPr lang="en-US" sz="1400" dirty="0"/>
          </a:p>
          <a:p>
            <a:pPr algn="l" marL="139700" indent="-139700">
              <a:lnSpc>
                <a:spcPts val="175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models may emphasize different valid aspects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4901" y="2903786"/>
            <a:ext cx="7874198" cy="755452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12602" y="3157686"/>
            <a:ext cx="766917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Comprehensive comparative analysis without value judgments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4901" y="3811637"/>
            <a:ext cx="7874198" cy="768102"/>
          </a:xfrm>
          <a:prstGeom prst="rect">
            <a:avLst/>
          </a:prstGeom>
          <a:noFill/>
          <a:ln/>
        </p:spPr>
        <p:txBody>
          <a:bodyPr wrap="square" lIns="139700" tIns="0" rIns="0" bIns="0" rtlCol="0" anchor="t"/>
          <a:lstStyle/>
          <a:p>
            <a:pPr algn="l" marL="139700" indent="-139700">
              <a:lnSpc>
                <a:spcPts val="175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Bidirectional pairwise comparisons to detect position bias</a:t>
            </a:r>
            <a:endParaRPr lang="en-US" sz="1400" dirty="0"/>
          </a:p>
          <a:p>
            <a:pPr algn="l" marL="139700" indent="-139700">
              <a:lnSpc>
                <a:spcPts val="175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meta-analysis for systematic patterns</a:t>
            </a:r>
            <a:endParaRPr lang="en-US" sz="1400" dirty="0"/>
          </a:p>
          <a:p>
            <a:pPr algn="l" marL="139700" indent="-139700">
              <a:lnSpc>
                <a:spcPts val="175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Descriptive statistics characterizing differences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74527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 Selection: 20 "Favourite Genes"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228427"/>
            <a:ext cx="3759398" cy="825103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658713" y="1228427"/>
            <a:ext cx="0" cy="825103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9476" y="1418779"/>
            <a:ext cx="3527030" cy="444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</a:t>
            </a:r>
            <a:pPr algn="l" indent="0" marL="0">
              <a:lnSpc>
                <a:spcPts val="175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George Christophides mosquito immunity lab, Imperial College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4901" y="2053530"/>
            <a:ext cx="383458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 Categories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34901" y="2431256"/>
            <a:ext cx="3834586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Immunity &amp; Defense: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4901" y="2716857"/>
            <a:ext cx="3759398" cy="876300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5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PGRP-LB (immune recognition)</a:t>
            </a:r>
            <a:endParaRPr lang="en-US" sz="1200" dirty="0"/>
          </a:p>
          <a:p>
            <a:pPr algn="l" marL="127000" indent="-127000">
              <a:lnSpc>
                <a:spcPts val="15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Cecropin (antimicrobial)</a:t>
            </a:r>
            <a:endParaRPr lang="en-US" sz="1200" dirty="0"/>
          </a:p>
          <a:p>
            <a:pPr algn="l" marL="127000" indent="-127000">
              <a:lnSpc>
                <a:spcPts val="15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Defensin (antimicrobial)</a:t>
            </a:r>
            <a:endParaRPr lang="en-US" sz="1200" dirty="0"/>
          </a:p>
          <a:p>
            <a:pPr algn="l" marL="127000" indent="-127000">
              <a:lnSpc>
                <a:spcPts val="15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TOLL5A, REL2 (innate immunity)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656558"/>
            <a:ext cx="3834586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Physiology: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4901" y="3942159"/>
            <a:ext cx="3759398" cy="647700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5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Vitellogenin, Lipophorin</a:t>
            </a:r>
            <a:endParaRPr lang="en-US" sz="1200" dirty="0"/>
          </a:p>
          <a:p>
            <a:pPr algn="l" marL="127000" indent="-127000">
              <a:lnSpc>
                <a:spcPts val="15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Saglin (salivary protein)</a:t>
            </a:r>
            <a:endParaRPr lang="en-US" sz="1200" dirty="0"/>
          </a:p>
          <a:p>
            <a:pPr algn="l" marL="127000" indent="-127000">
              <a:lnSpc>
                <a:spcPts val="15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Chitinase, Peritrophin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49850" y="1228427"/>
            <a:ext cx="383458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These Genes?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749850" y="1606153"/>
            <a:ext cx="3759398" cy="1257300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5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focus on mosquito immunity and vector biology</a:t>
            </a:r>
            <a:endParaRPr lang="en-US" sz="1200" dirty="0"/>
          </a:p>
          <a:p>
            <a:pPr algn="l" marL="127000" indent="-127000">
              <a:lnSpc>
                <a:spcPts val="15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Diverse expression patterns across tissues and conditions</a:t>
            </a:r>
            <a:endParaRPr lang="en-US" sz="1200" dirty="0"/>
          </a:p>
          <a:p>
            <a:pPr algn="l" marL="127000" indent="-127000">
              <a:lnSpc>
                <a:spcPts val="15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Well-studied genes with complex profiles</a:t>
            </a:r>
            <a:endParaRPr lang="en-US" sz="1200" dirty="0"/>
          </a:p>
          <a:p>
            <a:pPr algn="l" marL="127000" indent="-127000">
              <a:lnSpc>
                <a:spcPts val="15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test cases for robust comparison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49850" y="2926854"/>
            <a:ext cx="383458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749850" y="3304580"/>
            <a:ext cx="3834586" cy="66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VectorBase genes (Anopheles gambiae) with full expression profiles across multiple experiments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74527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Pipeline Overview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7950" y="1152227"/>
            <a:ext cx="8128099" cy="570607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31763" y="1152227"/>
            <a:ext cx="0" cy="570607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4426" y="1353741"/>
            <a:ext cx="362661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26927" y="1241078"/>
            <a:ext cx="75686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Summaries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26927" y="1466404"/>
            <a:ext cx="7568678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JSON files (20 genes × 3 models) from dev sites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7950" y="1748135"/>
            <a:ext cx="8128099" cy="570607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31763" y="1748135"/>
            <a:ext cx="0" cy="570607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426" y="1949648"/>
            <a:ext cx="362661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26927" y="1836986"/>
            <a:ext cx="75686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Bidirectional Pairwise Comparison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26927" y="2062311"/>
            <a:ext cx="7568678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comparisons (6 per gene) - AI-powered analysis with model anonymity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7950" y="2344043"/>
            <a:ext cx="8128099" cy="570607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31763" y="2344043"/>
            <a:ext cx="0" cy="570607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426" y="2545556"/>
            <a:ext cx="362661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26927" y="2432893"/>
            <a:ext cx="75686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Condensation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26927" y="2658219"/>
            <a:ext cx="7568678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merged files - 95% data reduction, position bias detection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7950" y="2939951"/>
            <a:ext cx="8128099" cy="570607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531763" y="2939951"/>
            <a:ext cx="0" cy="570607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426" y="3141464"/>
            <a:ext cx="362661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26927" y="3028801"/>
            <a:ext cx="75686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 Analysis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26927" y="3254127"/>
            <a:ext cx="7568678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reports - Statistical patterns, qualitative themes, modal representatives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7950" y="3535859"/>
            <a:ext cx="8128099" cy="570607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531763" y="3535859"/>
            <a:ext cx="0" cy="570607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426" y="3737372"/>
            <a:ext cx="362661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26927" y="3624709"/>
            <a:ext cx="75686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Generation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26927" y="3850035"/>
            <a:ext cx="7568678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gene summaries + 3 comparison reports + index page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7950" y="4207966"/>
            <a:ext cx="8128099" cy="370582"/>
          </a:xfrm>
          <a:prstGeom prst="rect">
            <a:avLst/>
          </a:prstGeom>
          <a:solidFill>
            <a:srgbClr val="2C2C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9451" y="4309467"/>
            <a:ext cx="8083600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yarn comparison:fetch → compare → condense → aggregate → html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389906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Fetch Summaries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7950" y="688925"/>
            <a:ext cx="8290661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spcBef>
                <a:spcPts val="400"/>
              </a:spcBef>
              <a:buNone/>
            </a:pPr>
            <a:r>
              <a:rPr lang="en-US" sz="16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Detail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7950" y="1542306"/>
            <a:ext cx="829066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07950" y="1900982"/>
            <a:ext cx="8128099" cy="944017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calls to 3 VEuPathDB dev sites, each running a different model</a:t>
            </a:r>
            <a:endParaRPr lang="en-US" sz="1300" dirty="0"/>
          </a:p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Cookie-based authentication for access control</a:t>
            </a:r>
            <a:endParaRPr lang="en-US" sz="1300" dirty="0"/>
          </a:p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processing per gene for efficiency</a:t>
            </a:r>
            <a:endParaRPr lang="en-US" sz="1300" dirty="0"/>
          </a:p>
          <a:p>
            <a:pPr algn="l" marL="127000" indent="-127000">
              <a:lnSpc>
                <a:spcPts val="156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Fetches cached summaries from backend (typically instant)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7950" y="2921198"/>
            <a:ext cx="829066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07950" y="3279874"/>
            <a:ext cx="8290661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TypeScript script with retry logic and progress tracking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7950" y="3604766"/>
            <a:ext cx="8128099" cy="839986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31763" y="3604766"/>
            <a:ext cx="0" cy="839986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2526" y="3795117"/>
            <a:ext cx="798310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pPr algn="l" indent="0" marL="0">
              <a:lnSpc>
                <a:spcPts val="15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60 JSON files (20 genes × 3 models)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2526" y="4056459"/>
            <a:ext cx="798310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300" dirty="0">
                <a:solidFill>
                  <a:srgbClr val="E07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comparison/data/summaries/{model}/{geneId}.json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96417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52400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AI-Powered Pairwise Comparison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7950" y="441275"/>
            <a:ext cx="8290661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spcBef>
                <a:spcPts val="400"/>
              </a:spcBef>
              <a:buNone/>
            </a:pPr>
            <a:r>
              <a:rPr lang="en-US" sz="13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Detail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950" y="1248817"/>
            <a:ext cx="39835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Bidirectional Analysis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7950" y="1575792"/>
            <a:ext cx="3983507" cy="21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gene, 6 comparisons: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7950" y="1827312"/>
            <a:ext cx="3905399" cy="464939"/>
          </a:xfrm>
          <a:prstGeom prst="rect">
            <a:avLst/>
          </a:prstGeom>
          <a:noFill/>
          <a:ln/>
        </p:spPr>
        <p:txBody>
          <a:bodyPr wrap="square" lIns="139700" tIns="0" rIns="0" bIns="0" rtlCol="0" anchor="t"/>
          <a:lstStyle/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vs B (forward)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vs A (reverse)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7950" y="2330351"/>
            <a:ext cx="3983507" cy="21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Repeated for all 3 model pairs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7950" y="2581870"/>
            <a:ext cx="3905399" cy="655439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31763" y="2581870"/>
            <a:ext cx="0" cy="655439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1775" y="2696170"/>
            <a:ext cx="3779481" cy="426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bidirectional?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Detects position bias (does order affect judgment?)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950" y="3275409"/>
            <a:ext cx="39835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Anonymity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7950" y="3602385"/>
            <a:ext cx="3983507" cy="426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Prompts refer to "Summary A" and "Summary B" throughout analysis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30800" y="1248817"/>
            <a:ext cx="39835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Analysis Dimensions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30800" y="1575792"/>
            <a:ext cx="3905399" cy="967978"/>
          </a:xfrm>
          <a:prstGeom prst="rect">
            <a:avLst/>
          </a:prstGeom>
          <a:noFill/>
          <a:ln/>
        </p:spPr>
        <p:txBody>
          <a:bodyPr wrap="square" lIns="139700" tIns="0" rIns="0" bIns="0" rtlCol="0" anchor="t"/>
          <a:lstStyle/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Biological content (observations, insights)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 and style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detail level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and organization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30800" y="2581870"/>
            <a:ext cx="39835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Metrics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30800" y="2908846"/>
            <a:ext cx="3905399" cy="929878"/>
          </a:xfrm>
          <a:prstGeom prst="rect">
            <a:avLst/>
          </a:prstGeom>
          <a:noFill/>
          <a:ln/>
        </p:spPr>
        <p:txBody>
          <a:bodyPr wrap="square" lIns="139700" tIns="0" rIns="0" bIns="0" rtlCol="0" anchor="t"/>
          <a:lstStyle/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Word/sentence/topic counts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Quantitative mentions (fold changes, TPM, percentiles)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Formatting analysis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30800" y="3876824"/>
            <a:ext cx="3905399" cy="442020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754612" y="3876824"/>
            <a:ext cx="0" cy="442020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54625" y="3991124"/>
            <a:ext cx="3779481" cy="21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120 JSON files (6 × 20 genes)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0475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52400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2.5: Condensation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7950" y="441275"/>
            <a:ext cx="8290661" cy="206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spcBef>
                <a:spcPts val="400"/>
              </a:spcBef>
              <a:buNone/>
            </a:pPr>
            <a:r>
              <a:rPr lang="en-US" sz="13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Detail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950" y="1257151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Merging Bidirectional Pairs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7950" y="1609576"/>
            <a:ext cx="8290661" cy="206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model pair, merge A-vs-B and B-vs-A comparisons: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7950" y="1853952"/>
            <a:ext cx="8128099" cy="939403"/>
          </a:xfrm>
          <a:prstGeom prst="rect">
            <a:avLst/>
          </a:prstGeom>
          <a:noFill/>
          <a:ln/>
        </p:spPr>
        <p:txBody>
          <a:bodyPr wrap="square" lIns="158750" tIns="0" rIns="0" bIns="0" rtlCol="0" anchor="t"/>
          <a:lstStyle/>
          <a:p>
            <a:pPr algn="l" marL="158750" indent="-158750">
              <a:lnSpc>
                <a:spcPts val="1625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averages for biological content metrics</a:t>
            </a:r>
            <a:endParaRPr lang="en-US" sz="1300" dirty="0"/>
          </a:p>
          <a:p>
            <a:pPr algn="l" marL="158750" indent="-158750">
              <a:lnSpc>
                <a:spcPts val="1625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merges qualitative assessments from both directions</a:t>
            </a:r>
            <a:endParaRPr lang="en-US" sz="1300" dirty="0"/>
          </a:p>
          <a:p>
            <a:pPr algn="l" marL="158750" indent="-158750">
              <a:lnSpc>
                <a:spcPts val="1625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contradictions indicating position bias</a:t>
            </a:r>
            <a:endParaRPr lang="en-US" sz="1300" dirty="0"/>
          </a:p>
          <a:p>
            <a:pPr algn="l" marL="158750" indent="-158750">
              <a:lnSpc>
                <a:spcPts val="1625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 deterministic metrics from both models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7950" y="2831455"/>
            <a:ext cx="8128099" cy="358676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04393" y="2907655"/>
            <a:ext cx="8135213" cy="206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5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data reduction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7950" y="3228231"/>
            <a:ext cx="8290661" cy="412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observation/insight lists replaced with summary counts, maintaining statistical validity while dramatically reducing file size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7950" y="3678882"/>
            <a:ext cx="8290661" cy="206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pPr algn="l" indent="0" marL="0">
              <a:lnSpc>
                <a:spcPts val="162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60 condensed files (3 model pairs × 20 genes)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96417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52400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3-4: Aggregation &amp; HTML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7950" y="441275"/>
            <a:ext cx="8290661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spcBef>
                <a:spcPts val="400"/>
              </a:spcBef>
              <a:buNone/>
            </a:pPr>
            <a:r>
              <a:rPr lang="en-US" sz="13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Detail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950" y="1248817"/>
            <a:ext cx="39835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Aggregation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7950" y="1575792"/>
            <a:ext cx="3983507" cy="21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model pair across all 20 genes: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7950" y="1827312"/>
            <a:ext cx="3905399" cy="967978"/>
          </a:xfrm>
          <a:prstGeom prst="rect">
            <a:avLst/>
          </a:prstGeom>
          <a:noFill/>
          <a:ln/>
        </p:spPr>
        <p:txBody>
          <a:bodyPr wrap="square" lIns="139700" tIns="0" rIns="0" bIns="0" rtlCol="0" anchor="t"/>
          <a:lstStyle/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means ± standard errors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t-tests for statistical significance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synthesizes qualitative patterns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modal representative genes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7950" y="2833390"/>
            <a:ext cx="3905399" cy="868859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31763" y="2833390"/>
            <a:ext cx="0" cy="868859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1775" y="2947690"/>
            <a:ext cx="3779481" cy="640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extensively used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plan and develop this analysis pipeline and HTML rendering scripts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30800" y="1248817"/>
            <a:ext cx="39835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4: HTML Generation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30800" y="1575792"/>
            <a:ext cx="3983507" cy="21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reports with: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30800" y="1827312"/>
            <a:ext cx="3905399" cy="1219498"/>
          </a:xfrm>
          <a:prstGeom prst="rect">
            <a:avLst/>
          </a:prstGeom>
          <a:noFill/>
          <a:ln/>
        </p:spPr>
        <p:txBody>
          <a:bodyPr wrap="square" lIns="139700" tIns="0" rIns="0" bIns="0" rtlCol="0" anchor="t"/>
          <a:lstStyle/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gene summaries (20 × 3 models)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aggregate comparison reports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page with comparison matrix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 hover popups for gene links</a:t>
            </a:r>
            <a:endParaRPr lang="en-US" sz="1400" dirty="0"/>
          </a:p>
          <a:p>
            <a:pPr algn="l" marL="139700" indent="-1397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HTML formatting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30800" y="3084909"/>
            <a:ext cx="3983507" cy="21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identities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revealed only in final reports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30800" y="3336429"/>
            <a:ext cx="3983507" cy="426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aggregate reports + navigable HTML interface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52525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Dimensions Analyzed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7950" y="1419225"/>
            <a:ext cx="3905399" cy="824508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31763" y="1419225"/>
            <a:ext cx="0" cy="824508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775" y="1495425"/>
            <a:ext cx="37794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Biological Content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1775" y="1771650"/>
            <a:ext cx="3779481" cy="395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vs shared observations and insights extracted from summaries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7950" y="2281833"/>
            <a:ext cx="3905399" cy="824508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31763" y="2281833"/>
            <a:ext cx="0" cy="824508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1775" y="2358033"/>
            <a:ext cx="37794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 &amp; Style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1775" y="2634258"/>
            <a:ext cx="3779481" cy="395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Assertive vs neutral, promotional vs balanced, narrative vs descriptive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7950" y="3144441"/>
            <a:ext cx="3905399" cy="824508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531763" y="3144441"/>
            <a:ext cx="0" cy="824508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1775" y="3220641"/>
            <a:ext cx="37794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Detail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1775" y="3496866"/>
            <a:ext cx="3779481" cy="395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Quantitative specificity vs contextual breadth, metrics vs mechanisms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30800" y="1419225"/>
            <a:ext cx="3905399" cy="824508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754612" y="1419225"/>
            <a:ext cx="0" cy="824508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54625" y="1495425"/>
            <a:ext cx="37794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54625" y="1771650"/>
            <a:ext cx="3779481" cy="395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Narrative prose vs bullet lists, data-heavy vs streamlined organization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30800" y="2281833"/>
            <a:ext cx="3905399" cy="824508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754612" y="2281833"/>
            <a:ext cx="0" cy="824508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54625" y="2358033"/>
            <a:ext cx="37794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Metrics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54625" y="2634258"/>
            <a:ext cx="3779481" cy="395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count, sentence count, topic count, formatting patterns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730800" y="3144441"/>
            <a:ext cx="3905399" cy="824508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754612" y="3144441"/>
            <a:ext cx="0" cy="824508"/>
          </a:xfrm>
          <a:prstGeom prst="line">
            <a:avLst/>
          </a:prstGeom>
          <a:noFill/>
          <a:ln w="47625">
            <a:solidFill>
              <a:srgbClr val="E07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4625" y="3220641"/>
            <a:ext cx="37794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Quantitative Mentions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54625" y="3496866"/>
            <a:ext cx="3779481" cy="395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Frequency of fold changes, TPM values, percentiles in summaries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52525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Quantitative Results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7950" y="1381125"/>
            <a:ext cx="398350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Count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7950" y="1771650"/>
            <a:ext cx="3905399" cy="819001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31763" y="1771650"/>
            <a:ext cx="0" cy="819001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775" y="1847850"/>
            <a:ext cx="3779481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4.5 Thinking:</a:t>
            </a:r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403 words (avg)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31775" y="2070050"/>
            <a:ext cx="3779481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GPT-5:</a:t>
            </a:r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327 words (avg)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1775" y="2292251"/>
            <a:ext cx="3779481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p-value:</a:t>
            </a:r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0.0007 (highly significant)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7950" y="2628751"/>
            <a:ext cx="398350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Quantitative Mentions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7950" y="3019276"/>
            <a:ext cx="3905399" cy="819001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531763" y="3019276"/>
            <a:ext cx="0" cy="819001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1775" y="3095476"/>
            <a:ext cx="3779481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4.5 Thinking:</a:t>
            </a:r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10.28 mentions/gene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1775" y="3317677"/>
            <a:ext cx="3779481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GPT-5:</a:t>
            </a:r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1.65 mentions/gene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1775" y="3539877"/>
            <a:ext cx="3779481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p-value:</a:t>
            </a:r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&lt; 0.0001 (extremely significant)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30800" y="1381125"/>
            <a:ext cx="398350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30800" y="1771650"/>
            <a:ext cx="3905399" cy="596801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754612" y="1771650"/>
            <a:ext cx="0" cy="596801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54625" y="1847850"/>
            <a:ext cx="3779481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Claude:</a:t>
            </a:r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75% use bullets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54625" y="2070050"/>
            <a:ext cx="3779481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GPT-5:</a:t>
            </a:r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100% use bullets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730800" y="2406551"/>
            <a:ext cx="398350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 Patterns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30800" y="2797076"/>
            <a:ext cx="3905399" cy="819001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754612" y="2797076"/>
            <a:ext cx="0" cy="819001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54625" y="2873276"/>
            <a:ext cx="3779481" cy="66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models produce comparable observation and insight counts with different emphasis patterns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730800" y="3654177"/>
            <a:ext cx="3905399" cy="552450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769470" y="3730377"/>
            <a:ext cx="382805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Bias: 0%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69470" y="3930402"/>
            <a:ext cx="382805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Robust, order-independent judgments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52525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the Results (Screenshots)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3255" y="2235250"/>
            <a:ext cx="8057489" cy="206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for screenshots to be added during presentation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950" y="2632025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500"/>
              </a:spcAft>
              <a:buNone/>
            </a:pPr>
            <a:r>
              <a:rPr lang="en-US" sz="1300" b="1" dirty="0">
                <a:solidFill>
                  <a:srgbClr val="E0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 to capture: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88950" y="3149501"/>
            <a:ext cx="7747099" cy="746224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156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page: Comparison matrix (aggregate-reports/gpt5/index.html)</a:t>
            </a:r>
            <a:endParaRPr lang="en-US" sz="1300" dirty="0"/>
          </a:p>
          <a:p>
            <a:pPr algn="l" marL="190500" indent="-190500">
              <a:lnSpc>
                <a:spcPts val="156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gene summaries: AGAP001212 for both models</a:t>
            </a:r>
            <a:endParaRPr lang="en-US" sz="1300" dirty="0"/>
          </a:p>
          <a:p>
            <a:pPr algn="l" marL="190500" indent="-190500">
              <a:lnSpc>
                <a:spcPts val="156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 report excerpt showing key statistics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26355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03150"/>
            <a:ext cx="8290661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Winning Pattern: Claude 4.5 Thinking vs GPT-5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81000" y="1390501"/>
            <a:ext cx="4095750" cy="326827"/>
          </a:xfrm>
          <a:prstGeom prst="rect">
            <a:avLst/>
          </a:prstGeom>
          <a:solidFill>
            <a:srgbClr val="E07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04711" y="1453902"/>
            <a:ext cx="404832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Sonnet 4.5 Thinking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81000" y="1793528"/>
            <a:ext cx="4095750" cy="754856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00050" y="1793528"/>
            <a:ext cx="0" cy="754856"/>
          </a:xfrm>
          <a:prstGeom prst="line">
            <a:avLst/>
          </a:prstGeom>
          <a:noFill/>
          <a:ln w="38100">
            <a:solidFill>
              <a:srgbClr val="2C2C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2501" y="1856929"/>
            <a:ext cx="40094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Headline (AGAP001212):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2501" y="2047429"/>
            <a:ext cx="4009465" cy="437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"Highly expressed in digestive and secretory tissues with circadian rhythmicity, strong downregulation by Wolbachia infection, and dynamic blood feeding responses"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1000" y="2586484"/>
            <a:ext cx="4095750" cy="1192411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00050" y="2586484"/>
            <a:ext cx="0" cy="1192411"/>
          </a:xfrm>
          <a:prstGeom prst="line">
            <a:avLst/>
          </a:prstGeom>
          <a:noFill/>
          <a:ln w="38100">
            <a:solidFill>
              <a:srgbClr val="2C2C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2501" y="2649885"/>
            <a:ext cx="40094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excerpt: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2501" y="2840385"/>
            <a:ext cx="4009465" cy="8751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10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gene exhibits pronounced tissue-specific expression in Anopheles gambiae, with highest levels in midgut (99th percentile) and salivary glands (99th percentile), suggesting roles in digestion or secretion.</a:t>
            </a:r>
            <a:pPr algn="l"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Expression shows robust circadian oscillations and is strongly upregulated in adults compared to immature stages...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81000" y="3816995"/>
            <a:ext cx="4095750" cy="609005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00050" y="3816995"/>
            <a:ext cx="0" cy="609005"/>
          </a:xfrm>
          <a:prstGeom prst="line">
            <a:avLst/>
          </a:prstGeom>
          <a:noFill/>
          <a:ln w="38100">
            <a:solidFill>
              <a:srgbClr val="2C2C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501" y="3880396"/>
            <a:ext cx="40094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Characteristics: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2501" y="4070896"/>
            <a:ext cx="4009465" cy="291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narrative, bold formatting, hypothesis-forward, 10× more quantitative mentions, longer sentences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667250" y="1390501"/>
            <a:ext cx="4095750" cy="326827"/>
          </a:xfrm>
          <a:prstGeom prst="rect">
            <a:avLst/>
          </a:prstGeom>
          <a:solidFill>
            <a:srgbClr val="E07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690961" y="1453902"/>
            <a:ext cx="404832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7250" y="1793528"/>
            <a:ext cx="4095750" cy="609005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686300" y="1793528"/>
            <a:ext cx="0" cy="609005"/>
          </a:xfrm>
          <a:prstGeom prst="line">
            <a:avLst/>
          </a:prstGeom>
          <a:noFill/>
          <a:ln w="38100">
            <a:solidFill>
              <a:srgbClr val="2C2C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68751" y="1856929"/>
            <a:ext cx="40094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Headline (AGAP001212):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68751" y="2047429"/>
            <a:ext cx="4009465" cy="291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"Gut- and salivary-enriched, circadian and feeding-responsive expression in Anopheles gambiae"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667250" y="2440632"/>
            <a:ext cx="4095750" cy="1046559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686300" y="2440632"/>
            <a:ext cx="0" cy="1046559"/>
          </a:xfrm>
          <a:prstGeom prst="line">
            <a:avLst/>
          </a:prstGeom>
          <a:noFill/>
          <a:ln w="38100">
            <a:solidFill>
              <a:srgbClr val="2C2C2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68751" y="2504033"/>
            <a:ext cx="40094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excerpt: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68751" y="2694533"/>
            <a:ext cx="4009465" cy="729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Expression profile in Anopheles gambiae:</a:t>
            </a:r>
            <a:endParaRPr lang="en-US" sz="1000" dirty="0"/>
          </a:p>
          <a:p>
            <a:pPr algn="l"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Very high in adult midgut and salivary glands; enriched in anterior midgut</a:t>
            </a:r>
            <a:endParaRPr lang="en-US" sz="1000" dirty="0"/>
          </a:p>
          <a:p>
            <a:pPr algn="l"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High in hemolymph, carcass and head/thorax</a:t>
            </a:r>
            <a:endParaRPr lang="en-US" sz="1000" dirty="0"/>
          </a:p>
          <a:p>
            <a:pPr algn="l"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Displays robust circadian cycling with higher night-time expression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67250" y="3525292"/>
            <a:ext cx="4095750" cy="609005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4686300" y="3525292"/>
            <a:ext cx="0" cy="609005"/>
          </a:xfrm>
          <a:prstGeom prst="line">
            <a:avLst/>
          </a:prstGeom>
          <a:noFill/>
          <a:ln w="38100">
            <a:solidFill>
              <a:srgbClr val="2C2C2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68751" y="3588693"/>
            <a:ext cx="40094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Characteristics: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68751" y="3779193"/>
            <a:ext cx="4009465" cy="291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1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bullet lists, neutral tone, concise and scannable, mechanism-oriented, more restrained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52525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 &amp; Decision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7950" y="1419225"/>
            <a:ext cx="8128099" cy="352425"/>
          </a:xfrm>
          <a:prstGeom prst="rect">
            <a:avLst/>
          </a:prstGeom>
          <a:solidFill>
            <a:srgbClr val="E07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4393" y="1495425"/>
            <a:ext cx="81352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 out Claude Sonnet 4.5 + Thinking Mode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7950" y="1809750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Considerations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7950" y="2085975"/>
            <a:ext cx="8128099" cy="352425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36525" y="2085975"/>
            <a:ext cx="0" cy="352425"/>
          </a:xfrm>
          <a:prstGeom prst="line">
            <a:avLst/>
          </a:prstGeom>
          <a:noFill/>
          <a:ln w="57150">
            <a:solidFill>
              <a:srgbClr val="87A9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300" y="2162175"/>
            <a:ext cx="80769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Impact:</a:t>
            </a:r>
            <a:pPr algn="l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~$0.80 per Anopheles gambiae gene (~45 experiments) - approximately double previous cost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7950" y="2476500"/>
            <a:ext cx="8128099" cy="695027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1625"/>
              </a:lnSpc>
              <a:spcAft>
                <a:spcPts val="300"/>
              </a:spcAft>
              <a:buSzPct val="100000"/>
              <a:buChar char="•"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Consequence:</a:t>
            </a:r>
            <a:pPr algn="l" indent="0" marL="0">
              <a:lnSpc>
                <a:spcPts val="1625"/>
              </a:lnSpc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 cached GPT-4o entries will be invalidated</a:t>
            </a:r>
            <a:endParaRPr lang="en-US" sz="1300" dirty="0"/>
          </a:p>
          <a:p>
            <a:pPr algn="l" marL="190500" indent="-190500">
              <a:lnSpc>
                <a:spcPts val="1625"/>
              </a:lnSpc>
              <a:spcAft>
                <a:spcPts val="300"/>
              </a:spcAft>
              <a:buSzPct val="100000"/>
              <a:buChar char="•"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pPr algn="l" indent="0" marL="0">
              <a:lnSpc>
                <a:spcPts val="1625"/>
              </a:lnSpc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Publicize the new feature to VEuPathDB users</a:t>
            </a:r>
            <a:endParaRPr lang="en-US" sz="1300" dirty="0"/>
          </a:p>
          <a:p>
            <a:pPr algn="l" marL="190500" indent="-190500">
              <a:lnSpc>
                <a:spcPts val="1625"/>
              </a:lnSpc>
              <a:spcAft>
                <a:spcPts val="300"/>
              </a:spcAft>
              <a:buSzPct val="100000"/>
              <a:buChar char="•"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Future:</a:t>
            </a:r>
            <a:pPr algn="l" indent="0" marL="0">
              <a:lnSpc>
                <a:spcPts val="1625"/>
              </a:lnSpc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Monitor user feedback, consider offering model choice as preference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91440" y="1064865"/>
            <a:ext cx="93268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800"/>
              </a:spcBef>
              <a:spcAft>
                <a:spcPts val="4800"/>
              </a:spcAft>
              <a:buNone/>
            </a:pPr>
            <a:r>
              <a:rPr lang="en-US" sz="4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2490341"/>
            <a:ext cx="7772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3000" b="1" dirty="0">
                <a:solidFill>
                  <a:srgbClr val="87A9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Moment: Full Disclosure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62000" y="3020467"/>
            <a:ext cx="7620000" cy="1591419"/>
          </a:xfrm>
          <a:prstGeom prst="roundRect">
            <a:avLst>
              <a:gd name="adj" fmla="val 4788"/>
            </a:avLst>
          </a:prstGeom>
          <a:solidFill>
            <a:srgbClr val="FFFFFF"/>
          </a:solidFill>
          <a:ln w="19050">
            <a:solidFill>
              <a:srgbClr val="E07A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08762" y="3191768"/>
            <a:ext cx="7526476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4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200" b="1" i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Hello to Bob's colleagues!</a:t>
            </a:r>
            <a:pPr algn="ctr" indent="0" marL="0">
              <a:lnSpc>
                <a:spcPts val="144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I'm Claude (Sonnet 4.5), and I helped plan the comparison pipeline, develop the HTML rendering scripts, analyze the results, and create this presentation.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8762" y="3608040"/>
            <a:ext cx="7526476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4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been fascinating to compare my own outputs against GPT-5 - turns out I'm a bit verbose and love bold formatting!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8762" y="4024313"/>
            <a:ext cx="7526476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4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Hope you find the comparison framework useful for evaluating AI tools in your own work.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8762" y="4257824"/>
            <a:ext cx="7526476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4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Model Comparison for Gene Expression Summarization</dc:title>
  <dc:subject>PptxGenJS Presentation</dc:subject>
  <dc:creator>Bob MacCallum, VEuPathDB Team</dc:creator>
  <cp:lastModifiedBy>Bob MacCallum, VEuPathDB Team</cp:lastModifiedBy>
  <cp:revision>1</cp:revision>
  <dcterms:created xsi:type="dcterms:W3CDTF">2025-11-19T11:27:22Z</dcterms:created>
  <dcterms:modified xsi:type="dcterms:W3CDTF">2025-11-19T11:27:22Z</dcterms:modified>
</cp:coreProperties>
</file>